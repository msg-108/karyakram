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6400" b="1">
                <a:solidFill>
                  <a:srgbClr val="1ABC9C"/>
                </a:solidFill>
                <a:latin typeface="Calibri"/>
              </a:defRPr>
            </a:pPr>
            <a:r>
              <a:t>KARYAKRAM</a:t>
            </a:r>
          </a:p>
          <a:p>
            <a:pPr>
              <a:spcAft>
                <a:spcPts val="40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A Scalable Event Management and Ticketing Platform</a:t>
            </a:r>
          </a:p>
          <a:p>
            <a:pPr>
              <a:defRPr sz="1400">
                <a:solidFill>
                  <a:srgbClr val="7F8C8D"/>
                </a:solidFill>
                <a:latin typeface="Calibri"/>
              </a:defRPr>
            </a:pPr>
            <a:r>
              <a:t>Mid-Term Project Review  |  React, Django REST Framework, PostgreSQL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C1C30"/>
                </a:solidFill>
                <a:latin typeface="Calibri"/>
              </a:defRPr>
            </a:pPr>
            <a:r>
              <a:t>Introduction &amp;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725912" cy="36576"/>
          </a:xfrm>
          <a:prstGeom prst="rect">
            <a:avLst/>
          </a:prstGeom>
          <a:solidFill>
            <a:srgbClr val="1ABC9C"/>
          </a:solidFill>
          <a:ln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C1C30"/>
                </a:solidFill>
                <a:latin typeface="Calibri"/>
              </a:defRPr>
            </a:pPr>
            <a:r>
              <a:t>Current Market Gaps in Nepal</a:t>
            </a:r>
            <a:r>
              <a:rPr b="1" sz="1500">
                <a:solidFill>
                  <a:srgbClr val="2C3E50"/>
                </a:solidFill>
              </a:rPr>
              <a:t>Host Anonymity: </a:t>
            </a:r>
            <a:r>
              <a:rPr b="0" sz="1500">
                <a:solidFill>
                  <a:srgbClr val="2C3E50"/>
                </a:solidFill>
              </a:rPr>
              <a:t>No verification systems exist to validate organizers, leading to financial scams.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500">
                <a:solidFill>
                  <a:srgbClr val="2C3E50"/>
                </a:solidFill>
              </a:rPr>
              <a:t>Double-Booking Vulnerability: </a:t>
            </a:r>
            <a:r>
              <a:rPr b="0" sz="1500">
                <a:solidFill>
                  <a:srgbClr val="2C3E50"/>
                </a:solidFill>
              </a:rPr>
              <a:t>Weak transaction logic causes race conditions during hot seat reservation periods.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500">
                <a:solidFill>
                  <a:srgbClr val="2C3E50"/>
                </a:solidFill>
              </a:rPr>
              <a:t>Manual Operations: </a:t>
            </a:r>
            <a:r>
              <a:rPr b="0" sz="1500">
                <a:solidFill>
                  <a:srgbClr val="2C3E50"/>
                </a:solidFill>
              </a:rPr>
              <a:t>Host approvals, event publishing, and ticket issuance rely on manual processes.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C1C30"/>
                </a:solidFill>
                <a:latin typeface="Calibri"/>
              </a:defRPr>
            </a:pPr>
            <a:r>
              <a:t>The Karyakram Solution</a:t>
            </a:r>
            <a:r>
              <a:rPr b="1" sz="1500">
                <a:solidFill>
                  <a:srgbClr val="2C3E50"/>
                </a:solidFill>
              </a:rPr>
              <a:t>Host Verification Engine: </a:t>
            </a:r>
            <a:r>
              <a:rPr b="0" sz="1500">
                <a:solidFill>
                  <a:srgbClr val="2C3E50"/>
                </a:solidFill>
              </a:rPr>
              <a:t>Organizers must supply PAN/Citizenship data reviewed by administrators.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500">
                <a:solidFill>
                  <a:srgbClr val="2C3E50"/>
                </a:solidFill>
              </a:rPr>
              <a:t>Safe Ticketing Backend: </a:t>
            </a:r>
            <a:r>
              <a:rPr b="0" sz="1500">
                <a:solidFill>
                  <a:srgbClr val="2C3E50"/>
                </a:solidFill>
              </a:rPr>
              <a:t>Implements PostgreSQL SELECT FOR UPDATE locks to prevent double-booking.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500">
                <a:solidFill>
                  <a:srgbClr val="2C3E50"/>
                </a:solidFill>
              </a:rPr>
              <a:t>Automated Transaction Hook: </a:t>
            </a:r>
            <a:r>
              <a:rPr b="0" sz="1500">
                <a:solidFill>
                  <a:srgbClr val="2C3E50"/>
                </a:solidFill>
              </a:rPr>
              <a:t>Event states and confirmation emails trigger automatically via SMTP.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C1C30"/>
                </a:solidFill>
                <a:latin typeface="Calibri"/>
              </a:defRPr>
            </a:pPr>
            <a:r>
              <a:t>Core User Personas &amp; Workspaces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725912" cy="36576"/>
          </a:xfrm>
          <a:prstGeom prst="rect">
            <a:avLst/>
          </a:prstGeom>
          <a:solidFill>
            <a:srgbClr val="1ABC9C"/>
          </a:solidFill>
          <a:ln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498DB"/>
                </a:solidFill>
                <a:latin typeface="Calibri"/>
              </a:defRPr>
            </a:pPr>
            <a:r>
              <a:t>Attendee (User)</a:t>
            </a:r>
            <a:r>
              <a:rPr b="1" sz="1300">
                <a:solidFill>
                  <a:srgbClr val="2C3E50"/>
                </a:solidFill>
              </a:rPr>
              <a:t>Discover: </a:t>
            </a:r>
            <a:r>
              <a:rPr b="0" sz="1300">
                <a:solidFill>
                  <a:srgbClr val="2C3E50"/>
                </a:solidFill>
              </a:rPr>
              <a:t>Search and filter public events by category or city.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300">
                <a:solidFill>
                  <a:srgbClr val="2C3E50"/>
                </a:solidFill>
              </a:rPr>
              <a:t>Book: </a:t>
            </a:r>
            <a:r>
              <a:rPr b="0" sz="1300">
                <a:solidFill>
                  <a:srgbClr val="2C3E50"/>
                </a:solidFill>
              </a:rPr>
              <a:t>Securely buy ticket seats.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300">
                <a:solidFill>
                  <a:srgbClr val="2C3E50"/>
                </a:solidFill>
              </a:rPr>
              <a:t>History: </a:t>
            </a:r>
            <a:r>
              <a:rPr b="0" sz="1300">
                <a:solidFill>
                  <a:srgbClr val="2C3E50"/>
                </a:solidFill>
              </a:rPr>
              <a:t>View reservations and process cancellations.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43984" y="1645920"/>
            <a:ext cx="329184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26864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ECC71"/>
                </a:solidFill>
                <a:latin typeface="Calibri"/>
              </a:defRPr>
            </a:pPr>
            <a:r>
              <a:t>Event Organizer (Host)</a:t>
            </a:r>
            <a:r>
              <a:rPr b="1" sz="1300">
                <a:solidFill>
                  <a:srgbClr val="2C3E50"/>
                </a:solidFill>
              </a:rPr>
              <a:t>Profile: </a:t>
            </a:r>
            <a:r>
              <a:rPr b="0" sz="1300">
                <a:solidFill>
                  <a:srgbClr val="2C3E50"/>
                </a:solidFill>
              </a:rPr>
              <a:t>Submit business files for admin validation.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300">
                <a:solidFill>
                  <a:srgbClr val="2C3E50"/>
                </a:solidFill>
              </a:rPr>
              <a:t>Configure: </a:t>
            </a:r>
            <a:r>
              <a:rPr b="0" sz="1300">
                <a:solidFill>
                  <a:srgbClr val="2C3E50"/>
                </a:solidFill>
              </a:rPr>
              <a:t>Set event details and ticket structures.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300">
                <a:solidFill>
                  <a:srgbClr val="2C3E50"/>
                </a:solidFill>
              </a:rPr>
              <a:t>Submit: </a:t>
            </a:r>
            <a:r>
              <a:rPr b="0" sz="1300">
                <a:solidFill>
                  <a:srgbClr val="2C3E50"/>
                </a:solidFill>
              </a:rPr>
              <a:t>Draft event listings and submit for review.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56448" y="1645920"/>
            <a:ext cx="329184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39328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9B59B6"/>
                </a:solidFill>
                <a:latin typeface="Calibri"/>
              </a:defRPr>
            </a:pPr>
            <a:r>
              <a:t>Administrator</a:t>
            </a:r>
            <a:r>
              <a:rPr b="1" sz="1300">
                <a:solidFill>
                  <a:srgbClr val="2C3E50"/>
                </a:solidFill>
              </a:rPr>
              <a:t>Queue: </a:t>
            </a:r>
            <a:r>
              <a:rPr b="0" sz="1300">
                <a:solidFill>
                  <a:srgbClr val="2C3E50"/>
                </a:solidFill>
              </a:rPr>
              <a:t>Monitor pending organizer and event profiles.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300">
                <a:solidFill>
                  <a:srgbClr val="2C3E50"/>
                </a:solidFill>
              </a:rPr>
              <a:t>Verify: </a:t>
            </a:r>
            <a:r>
              <a:rPr b="0" sz="1300">
                <a:solidFill>
                  <a:srgbClr val="2C3E50"/>
                </a:solidFill>
              </a:rPr>
              <a:t>Approve organizers or reject with comments.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300">
                <a:solidFill>
                  <a:srgbClr val="2C3E50"/>
                </a:solidFill>
              </a:rPr>
              <a:t>Publish: </a:t>
            </a:r>
            <a:r>
              <a:rPr b="0" sz="1300">
                <a:solidFill>
                  <a:srgbClr val="2C3E50"/>
                </a:solidFill>
              </a:rPr>
              <a:t>Elevate approved events to the home page.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C1C30"/>
                </a:solidFill>
                <a:latin typeface="Calibri"/>
              </a:defRPr>
            </a:pPr>
            <a:r>
              <a:t>Monolithic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725912" cy="36576"/>
          </a:xfrm>
          <a:prstGeom prst="rect">
            <a:avLst/>
          </a:prstGeom>
          <a:solidFill>
            <a:srgbClr val="1ABC9C"/>
          </a:solidFill>
          <a:ln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C1C30"/>
                </a:solidFill>
                <a:latin typeface="Calibri"/>
              </a:defRPr>
            </a:pPr>
            <a:r>
              <a:t>Platform Core Components</a:t>
            </a:r>
            <a:r>
              <a:rPr b="1" sz="1300">
                <a:solidFill>
                  <a:srgbClr val="2C3E50"/>
                </a:solidFill>
              </a:rPr>
              <a:t>React Client SPA: </a:t>
            </a:r>
            <a:r>
              <a:rPr b="0" sz="1300">
                <a:solidFill>
                  <a:srgbClr val="2C3E50"/>
                </a:solidFill>
              </a:rPr>
              <a:t>Uses Vite dev server and Tailwind CSS. Zustand store holds JWT credentials with client interceptors.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300">
                <a:solidFill>
                  <a:srgbClr val="2C3E50"/>
                </a:solidFill>
              </a:rPr>
              <a:t>DRF API Layer: </a:t>
            </a:r>
            <a:r>
              <a:rPr b="0" sz="1300">
                <a:solidFill>
                  <a:srgbClr val="2C3E50"/>
                </a:solidFill>
              </a:rPr>
              <a:t>Implements thin views mapping URLs to dedicated backend apps.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300">
                <a:solidFill>
                  <a:srgbClr val="2C3E50"/>
                </a:solidFill>
              </a:rPr>
              <a:t>Django Service Layer: </a:t>
            </a:r>
            <a:r>
              <a:rPr b="0" sz="1300">
                <a:solidFill>
                  <a:srgbClr val="2C3E50"/>
                </a:solidFill>
              </a:rPr>
              <a:t>Houses the actual domain rules and database transactions (atomic).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300">
                <a:solidFill>
                  <a:srgbClr val="2C3E50"/>
                </a:solidFill>
              </a:rPr>
              <a:t>Postgres DB: </a:t>
            </a:r>
            <a:r>
              <a:rPr b="0" sz="1300">
                <a:solidFill>
                  <a:srgbClr val="2C3E50"/>
                </a:solidFill>
              </a:rPr>
              <a:t>Shared storage engine containing schemas for users, events, and bookings.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645920"/>
            <a:ext cx="5943600" cy="822960"/>
          </a:xfrm>
          <a:prstGeom prst="rect">
            <a:avLst/>
          </a:prstGeom>
          <a:solidFill>
            <a:srgbClr val="3498D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React Client / Axios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2743200"/>
            <a:ext cx="5943600" cy="822960"/>
          </a:xfrm>
          <a:prstGeom prst="rect">
            <a:avLst/>
          </a:prstGeom>
          <a:solidFill>
            <a:srgbClr val="2ECC7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Django REST Monolith Router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3840480"/>
            <a:ext cx="5943600" cy="822960"/>
          </a:xfrm>
          <a:prstGeom prst="rect">
            <a:avLst/>
          </a:prstGeom>
          <a:solidFill>
            <a:srgbClr val="E67E2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Domain Service Layer (Users, Events, Bookings)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937760"/>
            <a:ext cx="5943600" cy="822960"/>
          </a:xfrm>
          <a:prstGeom prst="rect">
            <a:avLst/>
          </a:prstGeom>
          <a:solidFill>
            <a:srgbClr val="9B59B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PostgreSQL Database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C1C30"/>
                </a:solidFill>
                <a:latin typeface="Calibri"/>
              </a:defRPr>
            </a:pPr>
            <a:r>
              <a:t>Concurrency Control &amp; Booking Transactions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725912" cy="36576"/>
          </a:xfrm>
          <a:prstGeom prst="rect">
            <a:avLst/>
          </a:prstGeom>
          <a:solidFill>
            <a:srgbClr val="1ABC9C"/>
          </a:solidFill>
          <a:ln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C1C30"/>
                </a:solidFill>
                <a:latin typeface="Calibri"/>
              </a:defRPr>
            </a:pPr>
            <a:r>
              <a:t>How We Prevent Double Booking</a:t>
            </a:r>
            <a:r>
              <a:rPr b="1" sz="1400">
                <a:solidFill>
                  <a:srgbClr val="2C3E50"/>
                </a:solidFill>
              </a:rPr>
              <a:t>1. Request Payload: </a:t>
            </a:r>
            <a:r>
              <a:rPr b="0" sz="1400">
                <a:solidFill>
                  <a:srgbClr val="2C3E50"/>
                </a:solidFill>
              </a:rPr>
              <a:t>Attendees submit their chosen event and ticket category IDs.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400">
                <a:solidFill>
                  <a:srgbClr val="2C3E50"/>
                </a:solidFill>
              </a:rPr>
              <a:t>2. Atomic Transaction: </a:t>
            </a:r>
            <a:r>
              <a:rPr b="0" sz="1400">
                <a:solidFill>
                  <a:srgbClr val="2C3E50"/>
                </a:solidFill>
              </a:rPr>
              <a:t>The booking process is wrapped inside Django's `@transaction.atomic` block.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400">
                <a:solidFill>
                  <a:srgbClr val="2C3E50"/>
                </a:solidFill>
              </a:rPr>
              <a:t>3. Global Lock Order: </a:t>
            </a:r>
            <a:r>
              <a:rPr b="0" sz="1400">
                <a:solidFill>
                  <a:srgbClr val="2C3E50"/>
                </a:solidFill>
              </a:rPr>
              <a:t>Tiers are sorted in ascending order of their primary key to systematically prevent deadlocks.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400">
                <a:solidFill>
                  <a:srgbClr val="2C3E50"/>
                </a:solidFill>
              </a:rPr>
              <a:t>4. DB Row Locking: </a:t>
            </a:r>
            <a:r>
              <a:rPr b="0" sz="1400">
                <a:solidFill>
                  <a:srgbClr val="2C3E50"/>
                </a:solidFill>
              </a:rPr>
              <a:t>Implements PostgreSQL `select_for_update()` to lock ticket quantity levels during inventory check.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C1C30"/>
                </a:solidFill>
                <a:latin typeface="Calibri"/>
              </a:defRPr>
            </a:pPr>
            <a:r>
              <a:t>State Validation &amp; Execution</a:t>
            </a:r>
            <a:r>
              <a:rPr b="1" sz="1400">
                <a:solidFill>
                  <a:srgbClr val="2C3E50"/>
                </a:solidFill>
              </a:rPr>
              <a:t>5. Status Check: </a:t>
            </a:r>
            <a:r>
              <a:rPr b="0" sz="1400">
                <a:solidFill>
                  <a:srgbClr val="2C3E50"/>
                </a:solidFill>
              </a:rPr>
              <a:t>Verifies that the event is APPROVED or PUBLISHED.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400">
                <a:solidFill>
                  <a:srgbClr val="2C3E50"/>
                </a:solidFill>
              </a:rPr>
              <a:t>6. Capacity Verification: </a:t>
            </a:r>
            <a:r>
              <a:rPr b="0" sz="1400">
                <a:solidFill>
                  <a:srgbClr val="2C3E50"/>
                </a:solidFill>
              </a:rPr>
              <a:t>Validates `remaining_quantity &gt;= requested` for all selected categories.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400">
                <a:solidFill>
                  <a:srgbClr val="2C3E50"/>
                </a:solidFill>
              </a:rPr>
              <a:t>7. Inventory Update: </a:t>
            </a:r>
            <a:r>
              <a:rPr b="0" sz="1400">
                <a:solidFill>
                  <a:srgbClr val="2C3E50"/>
                </a:solidFill>
              </a:rPr>
              <a:t>Decrements inventory levels and persists booking records.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400">
                <a:solidFill>
                  <a:srgbClr val="2C3E50"/>
                </a:solidFill>
              </a:rPr>
              <a:t>8. Commit Hook: </a:t>
            </a:r>
            <a:r>
              <a:rPr b="0" sz="1400">
                <a:solidFill>
                  <a:srgbClr val="2C3E50"/>
                </a:solidFill>
              </a:rPr>
              <a:t>Registers a transactional `on_commit` listener to dispatch confirmation emails safely AFTER commit.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C1C30"/>
                </a:solidFill>
                <a:latin typeface="Calibri"/>
              </a:defRPr>
            </a:pPr>
            <a:r>
              <a:t>Event Workflow &amp; Admin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725912" cy="36576"/>
          </a:xfrm>
          <a:prstGeom prst="rect">
            <a:avLst/>
          </a:prstGeom>
          <a:solidFill>
            <a:srgbClr val="1ABC9C"/>
          </a:solidFill>
          <a:ln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C1C30"/>
                </a:solidFill>
                <a:latin typeface="Calibri"/>
              </a:defRPr>
            </a:pPr>
            <a:r>
              <a:t>Review Lifecycle of an Event</a:t>
            </a:r>
            <a:r>
              <a:rPr b="1" sz="1400">
                <a:solidFill>
                  <a:srgbClr val="2C3E50"/>
                </a:solidFill>
              </a:rPr>
              <a:t>DRAFT: </a:t>
            </a:r>
            <a:r>
              <a:rPr b="0" sz="1400">
                <a:solidFill>
                  <a:srgbClr val="2C3E50"/>
                </a:solidFill>
              </a:rPr>
              <a:t>Event is created by an organizer. It is fully editable, but invisible to the public directory.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400">
                <a:solidFill>
                  <a:srgbClr val="2C3E50"/>
                </a:solidFill>
              </a:rPr>
              <a:t>SUBMITTED: </a:t>
            </a:r>
            <a:r>
              <a:rPr b="0" sz="1400">
                <a:solidFill>
                  <a:srgbClr val="2C3E50"/>
                </a:solidFill>
              </a:rPr>
              <a:t>Organizer submits the event. The config locks, placing it in the admin pending review queue.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400">
                <a:solidFill>
                  <a:srgbClr val="2C3E50"/>
                </a:solidFill>
              </a:rPr>
              <a:t>REJECTED: </a:t>
            </a:r>
            <a:r>
              <a:rPr b="0" sz="1400">
                <a:solidFill>
                  <a:srgbClr val="2C3E50"/>
                </a:solidFill>
              </a:rPr>
              <a:t>Administrator rejects the event with feedback. Rejection reason is saved and organizer is notified via email. Event transitions back to editable draft status.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400">
                <a:solidFill>
                  <a:srgbClr val="2C3E50"/>
                </a:solidFill>
              </a:rPr>
              <a:t>APPROVED: </a:t>
            </a:r>
            <a:r>
              <a:rPr b="0" sz="1400">
                <a:solidFill>
                  <a:srgbClr val="2C3E50"/>
                </a:solidFill>
              </a:rPr>
              <a:t>Administrator approves the event application. The organizer is emailed. The event is now live and listed in the public homepage list.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400">
                <a:solidFill>
                  <a:srgbClr val="2C3E50"/>
                </a:solidFill>
              </a:rPr>
              <a:t>PUBLISHED: </a:t>
            </a:r>
            <a:r>
              <a:rPr b="0" sz="1400">
                <a:solidFill>
                  <a:srgbClr val="2C3E50"/>
                </a:solidFill>
              </a:rPr>
              <a:t>Optional status toggle. Admin publishes approved event. Publicly visible.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C1C30"/>
                </a:solidFill>
                <a:latin typeface="Calibri"/>
              </a:defRPr>
            </a:pPr>
            <a:r>
              <a:t>Technical Enhancements &amp; Resolutions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725912" cy="36576"/>
          </a:xfrm>
          <a:prstGeom prst="rect">
            <a:avLst/>
          </a:prstGeom>
          <a:solidFill>
            <a:srgbClr val="1ABC9C"/>
          </a:solidFill>
          <a:ln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C1C30"/>
                </a:solidFill>
                <a:latin typeface="Calibri"/>
              </a:defRPr>
            </a:pPr>
            <a:r>
              <a:t>Client &amp; MIME Type Fixes</a:t>
            </a:r>
            <a:r>
              <a:rPr b="1" sz="1300">
                <a:solidFill>
                  <a:srgbClr val="2C3E50"/>
                </a:solidFill>
              </a:rPr>
              <a:t>Axios Default Content-Type Fix: </a:t>
            </a:r>
            <a:r>
              <a:rPr b="0" sz="1300">
                <a:solidFill>
                  <a:srgbClr val="2C3E50"/>
                </a:solidFill>
              </a:rPr>
              <a:t>Removed global overrides forcing `application/json` which stripped boundary values on files.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300">
                <a:solidFill>
                  <a:srgbClr val="2C3E50"/>
                </a:solidFill>
              </a:rPr>
              <a:t>Image Upload Fallbacks: </a:t>
            </a:r>
            <a:r>
              <a:rPr b="0" sz="1300">
                <a:solidFill>
                  <a:srgbClr val="2C3E50"/>
                </a:solidFill>
              </a:rPr>
              <a:t>Handled missing or generic MIME types like `application/octet-stream` by falling back to check file extensions.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300">
                <a:solidFill>
                  <a:srgbClr val="2C3E50"/>
                </a:solidFill>
              </a:rPr>
              <a:t>Permissive File Formats: </a:t>
            </a:r>
            <a:r>
              <a:rPr b="0" sz="1300">
                <a:solidFill>
                  <a:srgbClr val="2C3E50"/>
                </a:solidFill>
              </a:rPr>
              <a:t>Expanded banner/gallery formats to support `.jpg`, `.jpeg`, `.png`, `.webp`, `.gif`, `.bmp`, `.tiff` up to 10MB.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C1C30"/>
                </a:solidFill>
                <a:latin typeface="Calibri"/>
              </a:defRPr>
            </a:pPr>
            <a:r>
              <a:t>API &amp; State Alignments</a:t>
            </a:r>
            <a:r>
              <a:rPr b="1" sz="1300">
                <a:solidFill>
                  <a:srgbClr val="2C3E50"/>
                </a:solidFill>
              </a:rPr>
              <a:t>User Booking Pagination: </a:t>
            </a:r>
            <a:r>
              <a:rPr b="0" sz="1300">
                <a:solidFill>
                  <a:srgbClr val="2C3E50"/>
                </a:solidFill>
              </a:rPr>
              <a:t>Resolved dashboard crash caused by mismatch between paginated API expectations and bare arrays returned by views.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300">
                <a:solidFill>
                  <a:srgbClr val="2C3E50"/>
                </a:solidFill>
              </a:rPr>
              <a:t>Approved Status Listings: </a:t>
            </a:r>
            <a:r>
              <a:rPr b="0" sz="1300">
                <a:solidFill>
                  <a:srgbClr val="2C3E50"/>
                </a:solidFill>
              </a:rPr>
              <a:t>Allowed `APPROVED` events to appear on home page list.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300">
                <a:solidFill>
                  <a:srgbClr val="2C3E50"/>
                </a:solidFill>
              </a:rPr>
              <a:t>Approved Booking Status: </a:t>
            </a:r>
            <a:r>
              <a:rPr b="0" sz="1300">
                <a:solidFill>
                  <a:srgbClr val="2C3E50"/>
                </a:solidFill>
              </a:rPr>
              <a:t>Modified booking filters to permit seat reservations on both `APPROVED` and `PUBLISHED` events.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C1C30"/>
                </a:solidFill>
                <a:latin typeface="Calibri"/>
              </a:defRPr>
            </a:pPr>
            <a:r>
              <a:t>Status &amp; Accomplishments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725912" cy="36576"/>
          </a:xfrm>
          <a:prstGeom prst="rect">
            <a:avLst/>
          </a:prstGeom>
          <a:solidFill>
            <a:srgbClr val="1ABC9C"/>
          </a:solidFill>
          <a:ln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C1C30"/>
                </a:solidFill>
                <a:latin typeface="Calibri"/>
              </a:defRPr>
            </a:pPr>
            <a:r>
              <a:t>Key Project Achievements</a:t>
            </a:r>
            <a:r>
              <a:rPr b="1" sz="1400">
                <a:solidFill>
                  <a:srgbClr val="2C3E50"/>
                </a:solidFill>
              </a:rPr>
              <a:t>Fully Integrated Auth &amp; Roles: </a:t>
            </a:r>
            <a:r>
              <a:rPr b="0" sz="1400">
                <a:solidFill>
                  <a:srgbClr val="2C3E50"/>
                </a:solidFill>
              </a:rPr>
              <a:t>Decodes claims from access token inside Zustand storage for instantaneous routing controls.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400">
                <a:solidFill>
                  <a:srgbClr val="2C3E50"/>
                </a:solidFill>
              </a:rPr>
              <a:t>Functional Admin approvals: </a:t>
            </a:r>
            <a:r>
              <a:rPr b="0" sz="1400">
                <a:solidFill>
                  <a:srgbClr val="2C3E50"/>
                </a:solidFill>
              </a:rPr>
              <a:t>Completed working dashboards to approve organizer profiles and review incoming events.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400">
                <a:solidFill>
                  <a:srgbClr val="2C3E50"/>
                </a:solidFill>
              </a:rPr>
              <a:t>Safe Seat reservations: </a:t>
            </a:r>
            <a:r>
              <a:rPr b="0" sz="1400">
                <a:solidFill>
                  <a:srgbClr val="2C3E50"/>
                </a:solidFill>
              </a:rPr>
              <a:t>Checked and validated transactional row locking that reliably stops race condition tickets.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400">
                <a:solidFill>
                  <a:srgbClr val="2C3E50"/>
                </a:solidFill>
              </a:rPr>
              <a:t>System Health Check: </a:t>
            </a:r>
            <a:r>
              <a:rPr b="0" sz="1400">
                <a:solidFill>
                  <a:srgbClr val="2C3E50"/>
                </a:solidFill>
              </a:rPr>
              <a:t>Verified zero TypeScript compilation warnings and zero Django check failures.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C1C30"/>
                </a:solidFill>
                <a:latin typeface="Calibri"/>
              </a:defRPr>
            </a:pPr>
            <a:r>
              <a:t>Future Scope &amp; Project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725912" cy="36576"/>
          </a:xfrm>
          <a:prstGeom prst="rect">
            <a:avLst/>
          </a:prstGeom>
          <a:solidFill>
            <a:srgbClr val="1ABC9C"/>
          </a:solidFill>
          <a:ln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C1C30"/>
                </a:solidFill>
                <a:latin typeface="Calibri"/>
              </a:defRPr>
            </a:pPr>
            <a:r>
              <a:t>Roadmap to Final Presentation</a:t>
            </a:r>
            <a:r>
              <a:rPr b="1" sz="1400">
                <a:solidFill>
                  <a:srgbClr val="2C3E50"/>
                </a:solidFill>
              </a:rPr>
              <a:t>Payment Integrations: </a:t>
            </a:r>
            <a:r>
              <a:rPr b="0" sz="1400">
                <a:solidFill>
                  <a:srgbClr val="2C3E50"/>
                </a:solidFill>
              </a:rPr>
              <a:t>Implement eSewa or Khalti payment gateway workflows for actual digital payments.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400">
                <a:solidFill>
                  <a:srgbClr val="2C3E50"/>
                </a:solidFill>
              </a:rPr>
              <a:t>Dynamic PDF Generation: </a:t>
            </a:r>
            <a:r>
              <a:rPr b="0" sz="1400">
                <a:solidFill>
                  <a:srgbClr val="2C3E50"/>
                </a:solidFill>
              </a:rPr>
              <a:t>Generate PDF tickets with signed cryptographical secure hash signatures upon confirmation.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400">
                <a:solidFill>
                  <a:srgbClr val="2C3E50"/>
                </a:solidFill>
              </a:rPr>
              <a:t>Entry QR Check-in System: </a:t>
            </a:r>
            <a:r>
              <a:rPr b="0" sz="1400">
                <a:solidFill>
                  <a:srgbClr val="2C3E50"/>
                </a:solidFill>
              </a:rPr>
              <a:t>Introduce mobile scanner endpoints to validate attendee tickets at event venues.</a:t>
            </a:r>
          </a:p>
          <a:p>
            <a:pPr>
              <a:spcAft>
                <a:spcPts val="800"/>
              </a:spcAft>
              <a:defRPr>
                <a:latin typeface="Calibri"/>
              </a:defRPr>
            </a:pPr>
            <a:r>
              <a:rPr b="1" sz="1400">
                <a:solidFill>
                  <a:srgbClr val="2C3E50"/>
                </a:solidFill>
              </a:rPr>
              <a:t>Analytical Charts: </a:t>
            </a:r>
            <a:r>
              <a:rPr b="0" sz="1400">
                <a:solidFill>
                  <a:srgbClr val="2C3E50"/>
                </a:solidFill>
              </a:rPr>
              <a:t>Create graphs for organizer analytics showing revenue projections and ticket tier ratios.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5600" b="1">
                <a:solidFill>
                  <a:srgbClr val="1ABC9C"/>
                </a:solidFill>
                <a:latin typeface="Calibri"/>
              </a:defRPr>
            </a:pPr>
            <a:r>
              <a:t>Thank You!</a:t>
            </a:r>
          </a:p>
          <a:p>
            <a:pPr>
              <a:defRPr sz="2400" b="0">
                <a:solidFill>
                  <a:srgbClr val="FFFFFF"/>
                </a:solidFill>
                <a:latin typeface="Calibri"/>
              </a:defRPr>
            </a:pPr>
            <a:r>
              <a:t>Questions &amp;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